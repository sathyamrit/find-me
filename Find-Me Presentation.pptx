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Poppins Light"/>
      <p:regular r:id="rId15"/>
    </p:embeddedFont>
    <p:embeddedFont>
      <p:font typeface="Poppins Light"/>
      <p:regular r:id="rId16"/>
    </p:embeddedFont>
    <p:embeddedFont>
      <p:font typeface="Poppins Light"/>
      <p:regular r:id="rId17"/>
    </p:embeddedFont>
    <p:embeddedFont>
      <p:font typeface="Poppins Light"/>
      <p:regular r:id="rId18"/>
    </p:embeddedFont>
    <p:embeddedFont>
      <p:font typeface="Roboto Light"/>
      <p:regular r:id="rId19"/>
    </p:embeddedFont>
    <p:embeddedFont>
      <p:font typeface="Roboto Light"/>
      <p:regular r:id="rId20"/>
    </p:embeddedFont>
    <p:embeddedFont>
      <p:font typeface="Roboto Light"/>
      <p:regular r:id="rId21"/>
    </p:embeddedFont>
    <p:embeddedFont>
      <p:font typeface="Roboto Light"/>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0000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37197"/>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F2F2F3"/>
                </a:solidFill>
                <a:latin typeface="Poppins Light" pitchFamily="34" charset="0"/>
                <a:ea typeface="Poppins Light" pitchFamily="34" charset="-122"/>
                <a:cs typeface="Poppins Light" pitchFamily="34" charset="-120"/>
              </a:rPr>
              <a:t>Find Me: A Web Application for Cross-Image Identification</a:t>
            </a:r>
            <a:endParaRPr lang="en-US" sz="4450" dirty="0"/>
          </a:p>
        </p:txBody>
      </p:sp>
      <p:sp>
        <p:nvSpPr>
          <p:cNvPr id="4" name="Text 1"/>
          <p:cNvSpPr/>
          <p:nvPr/>
        </p:nvSpPr>
        <p:spPr>
          <a:xfrm>
            <a:off x="6280190" y="4803696"/>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This presentation outlines the development of "Find Me," a web application designed to identify individuals across a collection of images using advanced face recognition technology.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425065"/>
            <a:ext cx="11989356" cy="708779"/>
          </a:xfrm>
          <a:prstGeom prst="rect">
            <a:avLst/>
          </a:prstGeom>
          <a:noFill/>
          <a:ln/>
        </p:spPr>
        <p:txBody>
          <a:bodyPr wrap="none" lIns="0" tIns="0" rIns="0" bIns="0" rtlCol="0" anchor="t"/>
          <a:lstStyle/>
          <a:p>
            <a:pPr algn="l" indent="0" marL="0">
              <a:lnSpc>
                <a:spcPts val="5550"/>
              </a:lnSpc>
              <a:buNone/>
            </a:pPr>
            <a:r>
              <a:rPr lang="en-US" sz="4450" dirty="0">
                <a:solidFill>
                  <a:srgbClr val="F2F2F3"/>
                </a:solidFill>
                <a:latin typeface="Poppins Light" pitchFamily="34" charset="0"/>
                <a:ea typeface="Poppins Light" pitchFamily="34" charset="-122"/>
                <a:cs typeface="Poppins Light" pitchFamily="34" charset="-120"/>
              </a:rPr>
              <a:t>Problem Statement: Efficient Image Search</a:t>
            </a:r>
            <a:endParaRPr lang="en-US" sz="4450" dirty="0"/>
          </a:p>
        </p:txBody>
      </p:sp>
      <p:sp>
        <p:nvSpPr>
          <p:cNvPr id="3" name="Text 1"/>
          <p:cNvSpPr/>
          <p:nvPr/>
        </p:nvSpPr>
        <p:spPr>
          <a:xfrm>
            <a:off x="793790" y="358747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The core problem "Find Me" addresses is the tedious and time-consuming process of manually sifting through numerous images to locate a specific person. Our solution aims to automate this, providing a precise and rapid search capability.</a:t>
            </a:r>
            <a:endParaRPr lang="en-US" sz="1750" dirty="0"/>
          </a:p>
        </p:txBody>
      </p:sp>
      <p:sp>
        <p:nvSpPr>
          <p:cNvPr id="4" name="Text 2"/>
          <p:cNvSpPr/>
          <p:nvPr/>
        </p:nvSpPr>
        <p:spPr>
          <a:xfrm>
            <a:off x="1133951" y="4823579"/>
            <a:ext cx="12702659"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Given an input image of a person, search through a set of images and find all instances where that person appears. Develop a web application that takes a person’s image as input and returns all matching images as output.</a:t>
            </a:r>
            <a:endParaRPr lang="en-US" sz="1750" dirty="0"/>
          </a:p>
        </p:txBody>
      </p:sp>
      <p:sp>
        <p:nvSpPr>
          <p:cNvPr id="5" name="Shape 3"/>
          <p:cNvSpPr/>
          <p:nvPr/>
        </p:nvSpPr>
        <p:spPr>
          <a:xfrm>
            <a:off x="793790" y="4568428"/>
            <a:ext cx="30480" cy="1236107"/>
          </a:xfrm>
          <a:prstGeom prst="rect">
            <a:avLst/>
          </a:prstGeom>
          <a:solidFill>
            <a:srgbClr val="F2F2F3"/>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63573"/>
            <a:ext cx="12069842" cy="708779"/>
          </a:xfrm>
          <a:prstGeom prst="rect">
            <a:avLst/>
          </a:prstGeom>
          <a:noFill/>
          <a:ln/>
        </p:spPr>
        <p:txBody>
          <a:bodyPr wrap="none" lIns="0" tIns="0" rIns="0" bIns="0" rtlCol="0" anchor="t"/>
          <a:lstStyle/>
          <a:p>
            <a:pPr algn="l" indent="0" marL="0">
              <a:lnSpc>
                <a:spcPts val="5550"/>
              </a:lnSpc>
              <a:buNone/>
            </a:pPr>
            <a:r>
              <a:rPr lang="en-US" sz="4450" dirty="0">
                <a:solidFill>
                  <a:srgbClr val="F2F2F3"/>
                </a:solidFill>
                <a:latin typeface="Poppins Light" pitchFamily="34" charset="0"/>
                <a:ea typeface="Poppins Light" pitchFamily="34" charset="-122"/>
                <a:cs typeface="Poppins Light" pitchFamily="34" charset="-120"/>
              </a:rPr>
              <a:t>Functional Requirements: Core Capabilities</a:t>
            </a:r>
            <a:endParaRPr lang="en-US" sz="4450" dirty="0"/>
          </a:p>
        </p:txBody>
      </p:sp>
      <p:sp>
        <p:nvSpPr>
          <p:cNvPr id="3" name="Shape 1"/>
          <p:cNvSpPr/>
          <p:nvPr/>
        </p:nvSpPr>
        <p:spPr>
          <a:xfrm>
            <a:off x="793790" y="2125980"/>
            <a:ext cx="6407944" cy="2456617"/>
          </a:xfrm>
          <a:prstGeom prst="roundRect">
            <a:avLst>
              <a:gd name="adj" fmla="val 5956"/>
            </a:avLst>
          </a:prstGeom>
          <a:noFill/>
          <a:ln w="30480">
            <a:solidFill>
              <a:srgbClr val="56565B"/>
            </a:solidFill>
            <a:prstDash val="solid"/>
          </a:ln>
        </p:spPr>
      </p:sp>
      <p:sp>
        <p:nvSpPr>
          <p:cNvPr id="4" name="Shape 2"/>
          <p:cNvSpPr/>
          <p:nvPr/>
        </p:nvSpPr>
        <p:spPr>
          <a:xfrm>
            <a:off x="763310" y="2125980"/>
            <a:ext cx="121920" cy="2456617"/>
          </a:xfrm>
          <a:prstGeom prst="roundRect">
            <a:avLst>
              <a:gd name="adj" fmla="val 78139"/>
            </a:avLst>
          </a:prstGeom>
          <a:solidFill>
            <a:srgbClr val="F2F2F3"/>
          </a:solidFill>
          <a:ln/>
        </p:spPr>
      </p:sp>
      <p:sp>
        <p:nvSpPr>
          <p:cNvPr id="5" name="Text 3"/>
          <p:cNvSpPr/>
          <p:nvPr/>
        </p:nvSpPr>
        <p:spPr>
          <a:xfrm>
            <a:off x="1142524" y="2383274"/>
            <a:ext cx="3584734"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Poppins Light" pitchFamily="34" charset="0"/>
                <a:ea typeface="Poppins Light" pitchFamily="34" charset="-122"/>
                <a:cs typeface="Poppins Light" pitchFamily="34" charset="-120"/>
              </a:rPr>
              <a:t>Image Input &amp; Processing</a:t>
            </a:r>
            <a:endParaRPr lang="en-US" sz="2200" dirty="0"/>
          </a:p>
        </p:txBody>
      </p:sp>
      <p:sp>
        <p:nvSpPr>
          <p:cNvPr id="6" name="Text 4"/>
          <p:cNvSpPr/>
          <p:nvPr/>
        </p:nvSpPr>
        <p:spPr>
          <a:xfrm>
            <a:off x="1142524" y="2873693"/>
            <a:ext cx="5801916"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The system must accept a target image, crop, detect, and encode the face for identification. It also supports batch uploads of search images and validates image formats.</a:t>
            </a:r>
            <a:endParaRPr lang="en-US" sz="1750" dirty="0"/>
          </a:p>
        </p:txBody>
      </p:sp>
      <p:sp>
        <p:nvSpPr>
          <p:cNvPr id="7" name="Shape 5"/>
          <p:cNvSpPr/>
          <p:nvPr/>
        </p:nvSpPr>
        <p:spPr>
          <a:xfrm>
            <a:off x="7428548" y="2125980"/>
            <a:ext cx="6408063" cy="2456617"/>
          </a:xfrm>
          <a:prstGeom prst="roundRect">
            <a:avLst>
              <a:gd name="adj" fmla="val 5956"/>
            </a:avLst>
          </a:prstGeom>
          <a:noFill/>
          <a:ln w="30480">
            <a:solidFill>
              <a:srgbClr val="56565B"/>
            </a:solidFill>
            <a:prstDash val="solid"/>
          </a:ln>
        </p:spPr>
      </p:sp>
      <p:sp>
        <p:nvSpPr>
          <p:cNvPr id="8" name="Shape 6"/>
          <p:cNvSpPr/>
          <p:nvPr/>
        </p:nvSpPr>
        <p:spPr>
          <a:xfrm>
            <a:off x="7398067" y="2125980"/>
            <a:ext cx="121920" cy="2456617"/>
          </a:xfrm>
          <a:prstGeom prst="roundRect">
            <a:avLst>
              <a:gd name="adj" fmla="val 78139"/>
            </a:avLst>
          </a:prstGeom>
          <a:solidFill>
            <a:srgbClr val="F2F2F3"/>
          </a:solidFill>
          <a:ln/>
        </p:spPr>
      </p:sp>
      <p:sp>
        <p:nvSpPr>
          <p:cNvPr id="9" name="Text 7"/>
          <p:cNvSpPr/>
          <p:nvPr/>
        </p:nvSpPr>
        <p:spPr>
          <a:xfrm>
            <a:off x="7777282" y="2383274"/>
            <a:ext cx="351722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Poppins Light" pitchFamily="34" charset="0"/>
                <a:ea typeface="Poppins Light" pitchFamily="34" charset="-122"/>
                <a:cs typeface="Poppins Light" pitchFamily="34" charset="-120"/>
              </a:rPr>
              <a:t>Intelligent Image Filtering</a:t>
            </a:r>
            <a:endParaRPr lang="en-US" sz="2200" dirty="0"/>
          </a:p>
        </p:txBody>
      </p:sp>
      <p:sp>
        <p:nvSpPr>
          <p:cNvPr id="10" name="Text 8"/>
          <p:cNvSpPr/>
          <p:nvPr/>
        </p:nvSpPr>
        <p:spPr>
          <a:xfrm>
            <a:off x="7777282" y="2873693"/>
            <a:ext cx="5802035" cy="1451610"/>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Only images containing human faces will be processed; others are discarded to optimise search performance and relevancy. This ensures efficient use of computational resources.</a:t>
            </a:r>
            <a:endParaRPr lang="en-US" sz="1750" dirty="0"/>
          </a:p>
        </p:txBody>
      </p:sp>
      <p:sp>
        <p:nvSpPr>
          <p:cNvPr id="11" name="Shape 9"/>
          <p:cNvSpPr/>
          <p:nvPr/>
        </p:nvSpPr>
        <p:spPr>
          <a:xfrm>
            <a:off x="793790" y="4809411"/>
            <a:ext cx="6407944" cy="2456617"/>
          </a:xfrm>
          <a:prstGeom prst="roundRect">
            <a:avLst>
              <a:gd name="adj" fmla="val 5956"/>
            </a:avLst>
          </a:prstGeom>
          <a:noFill/>
          <a:ln w="30480">
            <a:solidFill>
              <a:srgbClr val="56565B"/>
            </a:solidFill>
            <a:prstDash val="solid"/>
          </a:ln>
        </p:spPr>
      </p:sp>
      <p:sp>
        <p:nvSpPr>
          <p:cNvPr id="12" name="Shape 10"/>
          <p:cNvSpPr/>
          <p:nvPr/>
        </p:nvSpPr>
        <p:spPr>
          <a:xfrm>
            <a:off x="763310" y="4809411"/>
            <a:ext cx="121920" cy="2456617"/>
          </a:xfrm>
          <a:prstGeom prst="roundRect">
            <a:avLst>
              <a:gd name="adj" fmla="val 78139"/>
            </a:avLst>
          </a:prstGeom>
          <a:solidFill>
            <a:srgbClr val="F2F2F3"/>
          </a:solidFill>
          <a:ln/>
        </p:spPr>
      </p:sp>
      <p:sp>
        <p:nvSpPr>
          <p:cNvPr id="13" name="Text 11"/>
          <p:cNvSpPr/>
          <p:nvPr/>
        </p:nvSpPr>
        <p:spPr>
          <a:xfrm>
            <a:off x="1142524" y="506670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Poppins Light" pitchFamily="34" charset="0"/>
                <a:ea typeface="Poppins Light" pitchFamily="34" charset="-122"/>
                <a:cs typeface="Poppins Light" pitchFamily="34" charset="-120"/>
              </a:rPr>
              <a:t>Search &amp; Output</a:t>
            </a:r>
            <a:endParaRPr lang="en-US" sz="2200" dirty="0"/>
          </a:p>
        </p:txBody>
      </p:sp>
      <p:sp>
        <p:nvSpPr>
          <p:cNvPr id="14" name="Text 12"/>
          <p:cNvSpPr/>
          <p:nvPr/>
        </p:nvSpPr>
        <p:spPr>
          <a:xfrm>
            <a:off x="1142524" y="5557123"/>
            <a:ext cx="5801916" cy="1451610"/>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The application will initiate a comprehensive search, compare faces, and display all matching images. If no matches are found, a clear "no results" message will be provided.</a:t>
            </a:r>
            <a:endParaRPr lang="en-US" sz="1750" dirty="0"/>
          </a:p>
        </p:txBody>
      </p:sp>
      <p:sp>
        <p:nvSpPr>
          <p:cNvPr id="15" name="Shape 13"/>
          <p:cNvSpPr/>
          <p:nvPr/>
        </p:nvSpPr>
        <p:spPr>
          <a:xfrm>
            <a:off x="7428548" y="4809411"/>
            <a:ext cx="6408063" cy="2456617"/>
          </a:xfrm>
          <a:prstGeom prst="roundRect">
            <a:avLst>
              <a:gd name="adj" fmla="val 5956"/>
            </a:avLst>
          </a:prstGeom>
          <a:noFill/>
          <a:ln w="30480">
            <a:solidFill>
              <a:srgbClr val="56565B"/>
            </a:solidFill>
            <a:prstDash val="solid"/>
          </a:ln>
        </p:spPr>
      </p:sp>
      <p:sp>
        <p:nvSpPr>
          <p:cNvPr id="16" name="Shape 14"/>
          <p:cNvSpPr/>
          <p:nvPr/>
        </p:nvSpPr>
        <p:spPr>
          <a:xfrm>
            <a:off x="7398067" y="4809411"/>
            <a:ext cx="121920" cy="2456617"/>
          </a:xfrm>
          <a:prstGeom prst="roundRect">
            <a:avLst>
              <a:gd name="adj" fmla="val 78139"/>
            </a:avLst>
          </a:prstGeom>
          <a:solidFill>
            <a:srgbClr val="F2F2F3"/>
          </a:solidFill>
          <a:ln/>
        </p:spPr>
      </p:sp>
      <p:sp>
        <p:nvSpPr>
          <p:cNvPr id="17" name="Text 15"/>
          <p:cNvSpPr/>
          <p:nvPr/>
        </p:nvSpPr>
        <p:spPr>
          <a:xfrm>
            <a:off x="7777282" y="506670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Poppins Light" pitchFamily="34" charset="0"/>
                <a:ea typeface="Poppins Light" pitchFamily="34" charset="-122"/>
                <a:cs typeface="Poppins Light" pitchFamily="34" charset="-120"/>
              </a:rPr>
              <a:t>User Control</a:t>
            </a:r>
            <a:endParaRPr lang="en-US" sz="2200" dirty="0"/>
          </a:p>
        </p:txBody>
      </p:sp>
      <p:sp>
        <p:nvSpPr>
          <p:cNvPr id="18" name="Text 16"/>
          <p:cNvSpPr/>
          <p:nvPr/>
        </p:nvSpPr>
        <p:spPr>
          <a:xfrm>
            <a:off x="7777282" y="5557123"/>
            <a:ext cx="5802035"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Users have the ability to clear all uploaded images, facilitating new search queries without requiring a page refresh or application restart.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900232"/>
            <a:ext cx="12383572" cy="653177"/>
          </a:xfrm>
          <a:prstGeom prst="rect">
            <a:avLst/>
          </a:prstGeom>
          <a:noFill/>
          <a:ln/>
        </p:spPr>
        <p:txBody>
          <a:bodyPr wrap="none" lIns="0" tIns="0" rIns="0" bIns="0" rtlCol="0" anchor="t"/>
          <a:lstStyle/>
          <a:p>
            <a:pPr algn="l" indent="0" marL="0">
              <a:lnSpc>
                <a:spcPts val="5100"/>
              </a:lnSpc>
              <a:buNone/>
            </a:pPr>
            <a:r>
              <a:rPr lang="en-US" sz="4100" dirty="0">
                <a:solidFill>
                  <a:srgbClr val="F2F2F3"/>
                </a:solidFill>
                <a:latin typeface="Poppins Light" pitchFamily="34" charset="0"/>
                <a:ea typeface="Poppins Light" pitchFamily="34" charset="-122"/>
                <a:cs typeface="Poppins Light" pitchFamily="34" charset="-120"/>
              </a:rPr>
              <a:t>Non-Functional Requirements: Quality Attributes</a:t>
            </a:r>
            <a:endParaRPr lang="en-US" sz="4100" dirty="0"/>
          </a:p>
        </p:txBody>
      </p:sp>
      <p:sp>
        <p:nvSpPr>
          <p:cNvPr id="3" name="Text 1"/>
          <p:cNvSpPr/>
          <p:nvPr/>
        </p:nvSpPr>
        <p:spPr>
          <a:xfrm>
            <a:off x="731520" y="2075855"/>
            <a:ext cx="2612708" cy="326469"/>
          </a:xfrm>
          <a:prstGeom prst="rect">
            <a:avLst/>
          </a:prstGeom>
          <a:noFill/>
          <a:ln/>
        </p:spPr>
        <p:txBody>
          <a:bodyPr wrap="none" lIns="0" tIns="0" rIns="0" bIns="0" rtlCol="0" anchor="t"/>
          <a:lstStyle/>
          <a:p>
            <a:pPr algn="l" indent="0" marL="0">
              <a:lnSpc>
                <a:spcPts val="2550"/>
              </a:lnSpc>
              <a:buNone/>
            </a:pPr>
            <a:r>
              <a:rPr lang="en-US" sz="2050" dirty="0">
                <a:solidFill>
                  <a:srgbClr val="F2F2F3"/>
                </a:solidFill>
                <a:latin typeface="Poppins Light" pitchFamily="34" charset="0"/>
                <a:ea typeface="Poppins Light" pitchFamily="34" charset="-122"/>
                <a:cs typeface="Poppins Light" pitchFamily="34" charset="-120"/>
              </a:rPr>
              <a:t>Performance</a:t>
            </a:r>
            <a:endParaRPr lang="en-US" sz="2050" dirty="0"/>
          </a:p>
        </p:txBody>
      </p:sp>
      <p:sp>
        <p:nvSpPr>
          <p:cNvPr id="4" name="Text 2"/>
          <p:cNvSpPr/>
          <p:nvPr/>
        </p:nvSpPr>
        <p:spPr>
          <a:xfrm>
            <a:off x="731520" y="2611279"/>
            <a:ext cx="6328767" cy="66889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Instantaneous image upload and swift display of results, ensuring a seamless user experience.</a:t>
            </a:r>
            <a:endParaRPr lang="en-US" sz="1600" dirty="0"/>
          </a:p>
        </p:txBody>
      </p:sp>
      <p:sp>
        <p:nvSpPr>
          <p:cNvPr id="5" name="Text 3"/>
          <p:cNvSpPr/>
          <p:nvPr/>
        </p:nvSpPr>
        <p:spPr>
          <a:xfrm>
            <a:off x="731520" y="3353276"/>
            <a:ext cx="6328767" cy="334447"/>
          </a:xfrm>
          <a:prstGeom prst="rect">
            <a:avLst/>
          </a:prstGeom>
          <a:noFill/>
          <a:ln/>
        </p:spPr>
        <p:txBody>
          <a:bodyPr wrap="non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Optimised algorithms for rapid face encoding and comparison.</a:t>
            </a:r>
            <a:endParaRPr lang="en-US" sz="1600" dirty="0"/>
          </a:p>
        </p:txBody>
      </p:sp>
      <p:sp>
        <p:nvSpPr>
          <p:cNvPr id="6" name="Text 4"/>
          <p:cNvSpPr/>
          <p:nvPr/>
        </p:nvSpPr>
        <p:spPr>
          <a:xfrm>
            <a:off x="731520" y="3896678"/>
            <a:ext cx="2612708" cy="326469"/>
          </a:xfrm>
          <a:prstGeom prst="rect">
            <a:avLst/>
          </a:prstGeom>
          <a:noFill/>
          <a:ln/>
        </p:spPr>
        <p:txBody>
          <a:bodyPr wrap="none" lIns="0" tIns="0" rIns="0" bIns="0" rtlCol="0" anchor="t"/>
          <a:lstStyle/>
          <a:p>
            <a:pPr algn="l" indent="0" marL="0">
              <a:lnSpc>
                <a:spcPts val="2550"/>
              </a:lnSpc>
              <a:buNone/>
            </a:pPr>
            <a:r>
              <a:rPr lang="en-US" sz="2050" dirty="0">
                <a:solidFill>
                  <a:srgbClr val="F2F2F3"/>
                </a:solidFill>
                <a:latin typeface="Poppins Light" pitchFamily="34" charset="0"/>
                <a:ea typeface="Poppins Light" pitchFamily="34" charset="-122"/>
                <a:cs typeface="Poppins Light" pitchFamily="34" charset="-120"/>
              </a:rPr>
              <a:t>Usability</a:t>
            </a:r>
            <a:endParaRPr lang="en-US" sz="2050" dirty="0"/>
          </a:p>
        </p:txBody>
      </p:sp>
      <p:sp>
        <p:nvSpPr>
          <p:cNvPr id="7" name="Text 5"/>
          <p:cNvSpPr/>
          <p:nvPr/>
        </p:nvSpPr>
        <p:spPr>
          <a:xfrm>
            <a:off x="731520" y="4432102"/>
            <a:ext cx="6328767" cy="66889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Clean, interactive user interface with clearly labelled fields for intuitive navigation.</a:t>
            </a:r>
            <a:endParaRPr lang="en-US" sz="1600" dirty="0"/>
          </a:p>
        </p:txBody>
      </p:sp>
      <p:sp>
        <p:nvSpPr>
          <p:cNvPr id="8" name="Text 6"/>
          <p:cNvSpPr/>
          <p:nvPr/>
        </p:nvSpPr>
        <p:spPr>
          <a:xfrm>
            <a:off x="731520" y="5174099"/>
            <a:ext cx="6328767" cy="66889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Inclusion of a progress bar to provide real-time feedback during processing.</a:t>
            </a:r>
            <a:endParaRPr lang="en-US" sz="1600" dirty="0"/>
          </a:p>
        </p:txBody>
      </p:sp>
      <p:sp>
        <p:nvSpPr>
          <p:cNvPr id="9" name="Text 7"/>
          <p:cNvSpPr/>
          <p:nvPr/>
        </p:nvSpPr>
        <p:spPr>
          <a:xfrm>
            <a:off x="731520" y="5916097"/>
            <a:ext cx="6328767" cy="66889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Responsive design for optimal viewing across various devices and screen sizes.</a:t>
            </a:r>
            <a:endParaRPr lang="en-US" sz="1600" dirty="0"/>
          </a:p>
        </p:txBody>
      </p:sp>
      <p:sp>
        <p:nvSpPr>
          <p:cNvPr id="10" name="Text 8"/>
          <p:cNvSpPr/>
          <p:nvPr/>
        </p:nvSpPr>
        <p:spPr>
          <a:xfrm>
            <a:off x="7577733" y="2075855"/>
            <a:ext cx="2612708" cy="326469"/>
          </a:xfrm>
          <a:prstGeom prst="rect">
            <a:avLst/>
          </a:prstGeom>
          <a:noFill/>
          <a:ln/>
        </p:spPr>
        <p:txBody>
          <a:bodyPr wrap="none" lIns="0" tIns="0" rIns="0" bIns="0" rtlCol="0" anchor="t"/>
          <a:lstStyle/>
          <a:p>
            <a:pPr algn="l" indent="0" marL="0">
              <a:lnSpc>
                <a:spcPts val="2550"/>
              </a:lnSpc>
              <a:buNone/>
            </a:pPr>
            <a:r>
              <a:rPr lang="en-US" sz="2050" dirty="0">
                <a:solidFill>
                  <a:srgbClr val="F2F2F3"/>
                </a:solidFill>
                <a:latin typeface="Poppins Light" pitchFamily="34" charset="0"/>
                <a:ea typeface="Poppins Light" pitchFamily="34" charset="-122"/>
                <a:cs typeface="Poppins Light" pitchFamily="34" charset="-120"/>
              </a:rPr>
              <a:t>Security</a:t>
            </a:r>
            <a:endParaRPr lang="en-US" sz="2050" dirty="0"/>
          </a:p>
        </p:txBody>
      </p:sp>
      <p:sp>
        <p:nvSpPr>
          <p:cNvPr id="11" name="Text 9"/>
          <p:cNvSpPr/>
          <p:nvPr/>
        </p:nvSpPr>
        <p:spPr>
          <a:xfrm>
            <a:off x="7577733" y="2611279"/>
            <a:ext cx="6328767" cy="66889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Secure processing of all uploaded images to protect user data and privacy.</a:t>
            </a:r>
            <a:endParaRPr lang="en-US" sz="1600" dirty="0"/>
          </a:p>
        </p:txBody>
      </p:sp>
      <p:sp>
        <p:nvSpPr>
          <p:cNvPr id="12" name="Text 10"/>
          <p:cNvSpPr/>
          <p:nvPr/>
        </p:nvSpPr>
        <p:spPr>
          <a:xfrm>
            <a:off x="7577733" y="3353276"/>
            <a:ext cx="6328767" cy="66889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Immediate deletion of images from the server upon processing completion or user request.</a:t>
            </a:r>
            <a:endParaRPr lang="en-US" sz="1600" dirty="0"/>
          </a:p>
        </p:txBody>
      </p:sp>
      <p:sp>
        <p:nvSpPr>
          <p:cNvPr id="13" name="Text 11"/>
          <p:cNvSpPr/>
          <p:nvPr/>
        </p:nvSpPr>
        <p:spPr>
          <a:xfrm>
            <a:off x="7577733" y="4231124"/>
            <a:ext cx="2612708" cy="326469"/>
          </a:xfrm>
          <a:prstGeom prst="rect">
            <a:avLst/>
          </a:prstGeom>
          <a:noFill/>
          <a:ln/>
        </p:spPr>
        <p:txBody>
          <a:bodyPr wrap="none" lIns="0" tIns="0" rIns="0" bIns="0" rtlCol="0" anchor="t"/>
          <a:lstStyle/>
          <a:p>
            <a:pPr algn="l" indent="0" marL="0">
              <a:lnSpc>
                <a:spcPts val="2550"/>
              </a:lnSpc>
              <a:buNone/>
            </a:pPr>
            <a:r>
              <a:rPr lang="en-US" sz="2050" dirty="0">
                <a:solidFill>
                  <a:srgbClr val="F2F2F3"/>
                </a:solidFill>
                <a:latin typeface="Poppins Light" pitchFamily="34" charset="0"/>
                <a:ea typeface="Poppins Light" pitchFamily="34" charset="-122"/>
                <a:cs typeface="Poppins Light" pitchFamily="34" charset="-120"/>
              </a:rPr>
              <a:t>Reliability</a:t>
            </a:r>
            <a:endParaRPr lang="en-US" sz="2050" dirty="0"/>
          </a:p>
        </p:txBody>
      </p:sp>
      <p:sp>
        <p:nvSpPr>
          <p:cNvPr id="14" name="Text 12"/>
          <p:cNvSpPr/>
          <p:nvPr/>
        </p:nvSpPr>
        <p:spPr>
          <a:xfrm>
            <a:off x="7577733" y="4766548"/>
            <a:ext cx="6328767" cy="66889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Robust error handling mechanisms to provide meaningful feedback to users in case of issues.</a:t>
            </a:r>
            <a:endParaRPr lang="en-US" sz="1600" dirty="0"/>
          </a:p>
        </p:txBody>
      </p:sp>
      <p:sp>
        <p:nvSpPr>
          <p:cNvPr id="15" name="Text 13"/>
          <p:cNvSpPr/>
          <p:nvPr/>
        </p:nvSpPr>
        <p:spPr>
          <a:xfrm>
            <a:off x="7577733" y="5508546"/>
            <a:ext cx="6328767" cy="334447"/>
          </a:xfrm>
          <a:prstGeom prst="rect">
            <a:avLst/>
          </a:prstGeom>
          <a:noFill/>
          <a:ln/>
        </p:spPr>
        <p:txBody>
          <a:bodyPr wrap="non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System resilience to ensure consistent operation.</a:t>
            </a:r>
            <a:endParaRPr lang="en-US" sz="1600" dirty="0"/>
          </a:p>
        </p:txBody>
      </p:sp>
      <p:sp>
        <p:nvSpPr>
          <p:cNvPr id="16" name="Text 14"/>
          <p:cNvSpPr/>
          <p:nvPr/>
        </p:nvSpPr>
        <p:spPr>
          <a:xfrm>
            <a:off x="7577733" y="6051947"/>
            <a:ext cx="2612708" cy="326469"/>
          </a:xfrm>
          <a:prstGeom prst="rect">
            <a:avLst/>
          </a:prstGeom>
          <a:noFill/>
          <a:ln/>
        </p:spPr>
        <p:txBody>
          <a:bodyPr wrap="none" lIns="0" tIns="0" rIns="0" bIns="0" rtlCol="0" anchor="t"/>
          <a:lstStyle/>
          <a:p>
            <a:pPr algn="l" indent="0" marL="0">
              <a:lnSpc>
                <a:spcPts val="2550"/>
              </a:lnSpc>
              <a:buNone/>
            </a:pPr>
            <a:r>
              <a:rPr lang="en-US" sz="2050" dirty="0">
                <a:solidFill>
                  <a:srgbClr val="F2F2F3"/>
                </a:solidFill>
                <a:latin typeface="Poppins Light" pitchFamily="34" charset="0"/>
                <a:ea typeface="Poppins Light" pitchFamily="34" charset="-122"/>
                <a:cs typeface="Poppins Light" pitchFamily="34" charset="-120"/>
              </a:rPr>
              <a:t>Compatibility</a:t>
            </a:r>
            <a:endParaRPr lang="en-US" sz="2050" dirty="0"/>
          </a:p>
        </p:txBody>
      </p:sp>
      <p:sp>
        <p:nvSpPr>
          <p:cNvPr id="17" name="Text 15"/>
          <p:cNvSpPr/>
          <p:nvPr/>
        </p:nvSpPr>
        <p:spPr>
          <a:xfrm>
            <a:off x="7577733" y="6587371"/>
            <a:ext cx="6328767" cy="66889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E5E0DF"/>
                </a:solidFill>
                <a:latin typeface="Roboto Light" pitchFamily="34" charset="0"/>
                <a:ea typeface="Roboto Light" pitchFamily="34" charset="-122"/>
                <a:cs typeface="Roboto Light" pitchFamily="34" charset="-120"/>
              </a:rPr>
              <a:t>Frontend designed for compatibility with major web browsers, including Chrome, Firefox, Edge, and Safari.</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436013"/>
            <a:ext cx="11383208" cy="708779"/>
          </a:xfrm>
          <a:prstGeom prst="rect">
            <a:avLst/>
          </a:prstGeom>
          <a:noFill/>
          <a:ln/>
        </p:spPr>
        <p:txBody>
          <a:bodyPr wrap="none" lIns="0" tIns="0" rIns="0" bIns="0" rtlCol="0" anchor="t"/>
          <a:lstStyle/>
          <a:p>
            <a:pPr algn="l" indent="0" marL="0">
              <a:lnSpc>
                <a:spcPts val="5550"/>
              </a:lnSpc>
              <a:buNone/>
            </a:pPr>
            <a:r>
              <a:rPr lang="en-US" sz="4450" dirty="0">
                <a:solidFill>
                  <a:srgbClr val="F2F2F3"/>
                </a:solidFill>
                <a:latin typeface="Poppins Light" pitchFamily="34" charset="0"/>
                <a:ea typeface="Poppins Light" pitchFamily="34" charset="-122"/>
                <a:cs typeface="Poppins Light" pitchFamily="34" charset="-120"/>
              </a:rPr>
              <a:t>Technology Stack: Foundation of Find Me</a:t>
            </a:r>
            <a:endParaRPr lang="en-US" sz="4450" dirty="0"/>
          </a:p>
        </p:txBody>
      </p:sp>
      <p:sp>
        <p:nvSpPr>
          <p:cNvPr id="3" name="Shape 1"/>
          <p:cNvSpPr/>
          <p:nvPr/>
        </p:nvSpPr>
        <p:spPr>
          <a:xfrm>
            <a:off x="793790" y="2908102"/>
            <a:ext cx="4196358" cy="121920"/>
          </a:xfrm>
          <a:prstGeom prst="roundRect">
            <a:avLst>
              <a:gd name="adj" fmla="val 78139"/>
            </a:avLst>
          </a:prstGeom>
          <a:solidFill>
            <a:srgbClr val="F2F2F3"/>
          </a:solidFill>
          <a:ln/>
        </p:spPr>
      </p:sp>
      <p:sp>
        <p:nvSpPr>
          <p:cNvPr id="4" name="Shape 2"/>
          <p:cNvSpPr/>
          <p:nvPr/>
        </p:nvSpPr>
        <p:spPr>
          <a:xfrm>
            <a:off x="2551688" y="2598420"/>
            <a:ext cx="680442" cy="680442"/>
          </a:xfrm>
          <a:prstGeom prst="roundRect">
            <a:avLst>
              <a:gd name="adj" fmla="val 134383"/>
            </a:avLst>
          </a:prstGeom>
          <a:solidFill>
            <a:srgbClr val="F2F2F3"/>
          </a:solidFill>
          <a:ln/>
        </p:spPr>
      </p:sp>
      <p:pic>
        <p:nvPicPr>
          <p:cNvPr id="5" name="Image 0" descr="preencoded.png">    </p:cNvPr>
          <p:cNvPicPr>
            <a:picLocks noChangeAspect="1"/>
          </p:cNvPicPr>
          <p:nvPr/>
        </p:nvPicPr>
        <p:blipFill>
          <a:blip r:embed="rId1"/>
          <a:stretch>
            <a:fillRect/>
          </a:stretch>
        </p:blipFill>
        <p:spPr>
          <a:xfrm>
            <a:off x="2755761" y="2768560"/>
            <a:ext cx="272177" cy="340162"/>
          </a:xfrm>
          <a:prstGeom prst="rect">
            <a:avLst/>
          </a:prstGeom>
        </p:spPr>
      </p:pic>
      <p:sp>
        <p:nvSpPr>
          <p:cNvPr id="6" name="Text 3"/>
          <p:cNvSpPr/>
          <p:nvPr/>
        </p:nvSpPr>
        <p:spPr>
          <a:xfrm>
            <a:off x="1051084" y="3505557"/>
            <a:ext cx="3220879"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Poppins Light" pitchFamily="34" charset="0"/>
                <a:ea typeface="Poppins Light" pitchFamily="34" charset="-122"/>
                <a:cs typeface="Poppins Light" pitchFamily="34" charset="-120"/>
              </a:rPr>
              <a:t>Frontend Development</a:t>
            </a:r>
            <a:endParaRPr lang="en-US" sz="2200" dirty="0"/>
          </a:p>
        </p:txBody>
      </p:sp>
      <p:sp>
        <p:nvSpPr>
          <p:cNvPr id="7" name="Text 4"/>
          <p:cNvSpPr/>
          <p:nvPr/>
        </p:nvSpPr>
        <p:spPr>
          <a:xfrm>
            <a:off x="1051084" y="3995976"/>
            <a:ext cx="3681770" cy="1814513"/>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Leveraging JavaScript with the React framework for a dynamic UI, styled using Tailwind CSS. Axios will manage HTTP requests, ensuring efficient data exchange.</a:t>
            </a:r>
            <a:endParaRPr lang="en-US" sz="1750" dirty="0"/>
          </a:p>
        </p:txBody>
      </p:sp>
      <p:sp>
        <p:nvSpPr>
          <p:cNvPr id="8" name="Shape 5"/>
          <p:cNvSpPr/>
          <p:nvPr/>
        </p:nvSpPr>
        <p:spPr>
          <a:xfrm>
            <a:off x="5216962" y="2908102"/>
            <a:ext cx="4196358" cy="121920"/>
          </a:xfrm>
          <a:prstGeom prst="roundRect">
            <a:avLst>
              <a:gd name="adj" fmla="val 78139"/>
            </a:avLst>
          </a:prstGeom>
          <a:solidFill>
            <a:srgbClr val="F2F2F3"/>
          </a:solidFill>
          <a:ln/>
        </p:spPr>
      </p:sp>
      <p:sp>
        <p:nvSpPr>
          <p:cNvPr id="9" name="Shape 6"/>
          <p:cNvSpPr/>
          <p:nvPr/>
        </p:nvSpPr>
        <p:spPr>
          <a:xfrm>
            <a:off x="6974860" y="2598420"/>
            <a:ext cx="680442" cy="680442"/>
          </a:xfrm>
          <a:prstGeom prst="roundRect">
            <a:avLst>
              <a:gd name="adj" fmla="val 134383"/>
            </a:avLst>
          </a:prstGeom>
          <a:solidFill>
            <a:srgbClr val="F2F2F3"/>
          </a:solidFill>
          <a:ln/>
        </p:spPr>
      </p:sp>
      <p:pic>
        <p:nvPicPr>
          <p:cNvPr id="10" name="Image 1" descr="preencoded.png">    </p:cNvPr>
          <p:cNvPicPr>
            <a:picLocks noChangeAspect="1"/>
          </p:cNvPicPr>
          <p:nvPr/>
        </p:nvPicPr>
        <p:blipFill>
          <a:blip r:embed="rId2"/>
          <a:stretch>
            <a:fillRect/>
          </a:stretch>
        </p:blipFill>
        <p:spPr>
          <a:xfrm>
            <a:off x="7178933" y="2768560"/>
            <a:ext cx="272177" cy="340162"/>
          </a:xfrm>
          <a:prstGeom prst="rect">
            <a:avLst/>
          </a:prstGeom>
        </p:spPr>
      </p:pic>
      <p:sp>
        <p:nvSpPr>
          <p:cNvPr id="11" name="Text 7"/>
          <p:cNvSpPr/>
          <p:nvPr/>
        </p:nvSpPr>
        <p:spPr>
          <a:xfrm>
            <a:off x="5474256" y="3505557"/>
            <a:ext cx="3185160"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Poppins Light" pitchFamily="34" charset="0"/>
                <a:ea typeface="Poppins Light" pitchFamily="34" charset="-122"/>
                <a:cs typeface="Poppins Light" pitchFamily="34" charset="-120"/>
              </a:rPr>
              <a:t>Backend Infrastructure</a:t>
            </a:r>
            <a:endParaRPr lang="en-US" sz="2200" dirty="0"/>
          </a:p>
        </p:txBody>
      </p:sp>
      <p:sp>
        <p:nvSpPr>
          <p:cNvPr id="12" name="Text 8"/>
          <p:cNvSpPr/>
          <p:nvPr/>
        </p:nvSpPr>
        <p:spPr>
          <a:xfrm>
            <a:off x="5474256" y="3995976"/>
            <a:ext cx="3681770" cy="219265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Python powers the backend, utilising FastAPI for robust API development, served via Uvicorn. Key libraries include </a:t>
            </a:r>
            <a:pPr algn="l" indent="0" marL="0">
              <a:lnSpc>
                <a:spcPts val="2850"/>
              </a:lnSpc>
              <a:buNone/>
            </a:pPr>
            <a:r>
              <a:rPr lang="en-US" sz="1750" dirty="0">
                <a:solidFill>
                  <a:srgbClr val="E5E0DF"/>
                </a:solidFill>
                <a:highlight>
                  <a:srgbClr val="121212"/>
                </a:highlight>
                <a:latin typeface="Consolas" pitchFamily="34" charset="0"/>
                <a:ea typeface="Consolas" pitchFamily="34" charset="-122"/>
                <a:cs typeface="Consolas" pitchFamily="34" charset="-120"/>
              </a:rPr>
              <a:t>face_recognition</a:t>
            </a:r>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 </a:t>
            </a:r>
            <a:pPr algn="l" indent="0" marL="0">
              <a:lnSpc>
                <a:spcPts val="2850"/>
              </a:lnSpc>
              <a:buNone/>
            </a:pPr>
            <a:r>
              <a:rPr lang="en-US" sz="1750" dirty="0">
                <a:solidFill>
                  <a:srgbClr val="E5E0DF"/>
                </a:solidFill>
                <a:highlight>
                  <a:srgbClr val="121212"/>
                </a:highlight>
                <a:latin typeface="Consolas" pitchFamily="34" charset="0"/>
                <a:ea typeface="Consolas" pitchFamily="34" charset="-122"/>
                <a:cs typeface="Consolas" pitchFamily="34" charset="-120"/>
              </a:rPr>
              <a:t>python-multipart</a:t>
            </a:r>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 and </a:t>
            </a:r>
            <a:pPr algn="l" indent="0" marL="0">
              <a:lnSpc>
                <a:spcPts val="2850"/>
              </a:lnSpc>
              <a:buNone/>
            </a:pPr>
            <a:r>
              <a:rPr lang="en-US" sz="1750" dirty="0">
                <a:solidFill>
                  <a:srgbClr val="E5E0DF"/>
                </a:solidFill>
                <a:highlight>
                  <a:srgbClr val="121212"/>
                </a:highlight>
                <a:latin typeface="Consolas" pitchFamily="34" charset="0"/>
                <a:ea typeface="Consolas" pitchFamily="34" charset="-122"/>
                <a:cs typeface="Consolas" pitchFamily="34" charset="-120"/>
              </a:rPr>
              <a:t>Pillow</a:t>
            </a:r>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 for image processing.</a:t>
            </a:r>
            <a:endParaRPr lang="en-US" sz="1750" dirty="0"/>
          </a:p>
        </p:txBody>
      </p:sp>
      <p:sp>
        <p:nvSpPr>
          <p:cNvPr id="13" name="Shape 9"/>
          <p:cNvSpPr/>
          <p:nvPr/>
        </p:nvSpPr>
        <p:spPr>
          <a:xfrm>
            <a:off x="9640133" y="2908102"/>
            <a:ext cx="4196358" cy="121920"/>
          </a:xfrm>
          <a:prstGeom prst="roundRect">
            <a:avLst>
              <a:gd name="adj" fmla="val 78139"/>
            </a:avLst>
          </a:prstGeom>
          <a:solidFill>
            <a:srgbClr val="F2F2F3"/>
          </a:solidFill>
          <a:ln/>
        </p:spPr>
      </p:sp>
      <p:sp>
        <p:nvSpPr>
          <p:cNvPr id="14" name="Shape 10"/>
          <p:cNvSpPr/>
          <p:nvPr/>
        </p:nvSpPr>
        <p:spPr>
          <a:xfrm>
            <a:off x="11398032" y="2598420"/>
            <a:ext cx="680442" cy="680442"/>
          </a:xfrm>
          <a:prstGeom prst="roundRect">
            <a:avLst>
              <a:gd name="adj" fmla="val 134383"/>
            </a:avLst>
          </a:prstGeom>
          <a:solidFill>
            <a:srgbClr val="F2F2F3"/>
          </a:solidFill>
          <a:ln/>
        </p:spPr>
      </p:sp>
      <p:pic>
        <p:nvPicPr>
          <p:cNvPr id="15" name="Image 2" descr="preencoded.png">    </p:cNvPr>
          <p:cNvPicPr>
            <a:picLocks noChangeAspect="1"/>
          </p:cNvPicPr>
          <p:nvPr/>
        </p:nvPicPr>
        <p:blipFill>
          <a:blip r:embed="rId3"/>
          <a:stretch>
            <a:fillRect/>
          </a:stretch>
        </p:blipFill>
        <p:spPr>
          <a:xfrm>
            <a:off x="11602105" y="2768560"/>
            <a:ext cx="272177" cy="340162"/>
          </a:xfrm>
          <a:prstGeom prst="rect">
            <a:avLst/>
          </a:prstGeom>
        </p:spPr>
      </p:pic>
      <p:sp>
        <p:nvSpPr>
          <p:cNvPr id="16" name="Text 11"/>
          <p:cNvSpPr/>
          <p:nvPr/>
        </p:nvSpPr>
        <p:spPr>
          <a:xfrm>
            <a:off x="9897427" y="350555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Poppins Light" pitchFamily="34" charset="0"/>
                <a:ea typeface="Poppins Light" pitchFamily="34" charset="-122"/>
                <a:cs typeface="Poppins Light" pitchFamily="34" charset="-120"/>
              </a:rPr>
              <a:t>Hosting &amp; Database</a:t>
            </a:r>
            <a:endParaRPr lang="en-US" sz="2200" dirty="0"/>
          </a:p>
        </p:txBody>
      </p:sp>
      <p:sp>
        <p:nvSpPr>
          <p:cNvPr id="17" name="Text 12"/>
          <p:cNvSpPr/>
          <p:nvPr/>
        </p:nvSpPr>
        <p:spPr>
          <a:xfrm>
            <a:off x="9897427" y="3995976"/>
            <a:ext cx="3681770" cy="254031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Vercel is chosen for hosting, providing a scalable and performant environment. PostgreSQL, a SQL-based system, is available for optional database requirements, ensuring data persistence and integrity.</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1738" y="449580"/>
            <a:ext cx="8286988" cy="510421"/>
          </a:xfrm>
          <a:prstGeom prst="rect">
            <a:avLst/>
          </a:prstGeom>
          <a:noFill/>
          <a:ln/>
        </p:spPr>
        <p:txBody>
          <a:bodyPr wrap="none" lIns="0" tIns="0" rIns="0" bIns="0" rtlCol="0" anchor="t"/>
          <a:lstStyle/>
          <a:p>
            <a:pPr algn="l" indent="0" marL="0">
              <a:lnSpc>
                <a:spcPts val="4000"/>
              </a:lnSpc>
              <a:buNone/>
            </a:pPr>
            <a:r>
              <a:rPr lang="en-US" sz="3200" dirty="0">
                <a:solidFill>
                  <a:srgbClr val="F2F2F3"/>
                </a:solidFill>
                <a:latin typeface="Poppins Light" pitchFamily="34" charset="0"/>
                <a:ea typeface="Poppins Light" pitchFamily="34" charset="-122"/>
                <a:cs typeface="Poppins Light" pitchFamily="34" charset="-120"/>
              </a:rPr>
              <a:t>Project Planning: Development Roadmap</a:t>
            </a:r>
            <a:endParaRPr lang="en-US" sz="3200" dirty="0"/>
          </a:p>
        </p:txBody>
      </p:sp>
      <p:sp>
        <p:nvSpPr>
          <p:cNvPr id="3" name="Shape 1"/>
          <p:cNvSpPr/>
          <p:nvPr/>
        </p:nvSpPr>
        <p:spPr>
          <a:xfrm>
            <a:off x="571738" y="1286708"/>
            <a:ext cx="163354" cy="980123"/>
          </a:xfrm>
          <a:prstGeom prst="roundRect">
            <a:avLst>
              <a:gd name="adj" fmla="val 42000"/>
            </a:avLst>
          </a:prstGeom>
          <a:solidFill>
            <a:srgbClr val="3D3D42"/>
          </a:solidFill>
          <a:ln w="7620">
            <a:solidFill>
              <a:srgbClr val="56565B"/>
            </a:solidFill>
            <a:prstDash val="solid"/>
          </a:ln>
        </p:spPr>
      </p:sp>
      <p:sp>
        <p:nvSpPr>
          <p:cNvPr id="4" name="Text 2"/>
          <p:cNvSpPr/>
          <p:nvPr/>
        </p:nvSpPr>
        <p:spPr>
          <a:xfrm>
            <a:off x="898446" y="1450062"/>
            <a:ext cx="2041922" cy="255151"/>
          </a:xfrm>
          <a:prstGeom prst="rect">
            <a:avLst/>
          </a:prstGeom>
          <a:noFill/>
          <a:ln/>
        </p:spPr>
        <p:txBody>
          <a:bodyPr wrap="none" lIns="0" tIns="0" rIns="0" bIns="0" rtlCol="0" anchor="t"/>
          <a:lstStyle/>
          <a:p>
            <a:pPr algn="l" indent="0" marL="0">
              <a:lnSpc>
                <a:spcPts val="2000"/>
              </a:lnSpc>
              <a:buNone/>
            </a:pPr>
            <a:r>
              <a:rPr lang="en-US" sz="1600" dirty="0">
                <a:solidFill>
                  <a:srgbClr val="E5E0DF"/>
                </a:solidFill>
                <a:latin typeface="Poppins Light" pitchFamily="34" charset="0"/>
                <a:ea typeface="Poppins Light" pitchFamily="34" charset="-122"/>
                <a:cs typeface="Poppins Light" pitchFamily="34" charset="-120"/>
              </a:rPr>
              <a:t>Project Initialisation</a:t>
            </a:r>
            <a:endParaRPr lang="en-US" sz="1600" dirty="0"/>
          </a:p>
        </p:txBody>
      </p:sp>
      <p:sp>
        <p:nvSpPr>
          <p:cNvPr id="5" name="Text 3"/>
          <p:cNvSpPr/>
          <p:nvPr/>
        </p:nvSpPr>
        <p:spPr>
          <a:xfrm>
            <a:off x="898446" y="1803202"/>
            <a:ext cx="13160216" cy="261342"/>
          </a:xfrm>
          <a:prstGeom prst="rect">
            <a:avLst/>
          </a:prstGeom>
          <a:noFill/>
          <a:ln/>
        </p:spPr>
        <p:txBody>
          <a:bodyPr wrap="none" lIns="0" tIns="0" rIns="0" bIns="0" rtlCol="0" anchor="t"/>
          <a:lstStyle/>
          <a:p>
            <a:pPr algn="l" indent="0" marL="0">
              <a:lnSpc>
                <a:spcPts val="2050"/>
              </a:lnSpc>
              <a:buNone/>
            </a:pPr>
            <a:r>
              <a:rPr lang="en-US" sz="1250" dirty="0">
                <a:solidFill>
                  <a:srgbClr val="E5E0DF"/>
                </a:solidFill>
                <a:latin typeface="Roboto Light" pitchFamily="34" charset="0"/>
                <a:ea typeface="Roboto Light" pitchFamily="34" charset="-122"/>
                <a:cs typeface="Roboto Light" pitchFamily="34" charset="-120"/>
              </a:rPr>
              <a:t>Establish a Git repository for version control, ensuring collaborative development and robust code management from the outset.</a:t>
            </a:r>
            <a:endParaRPr lang="en-US" sz="1250" dirty="0"/>
          </a:p>
        </p:txBody>
      </p:sp>
      <p:sp>
        <p:nvSpPr>
          <p:cNvPr id="6" name="Shape 4"/>
          <p:cNvSpPr/>
          <p:nvPr/>
        </p:nvSpPr>
        <p:spPr>
          <a:xfrm>
            <a:off x="816769" y="2389346"/>
            <a:ext cx="163354" cy="980123"/>
          </a:xfrm>
          <a:prstGeom prst="roundRect">
            <a:avLst>
              <a:gd name="adj" fmla="val 42000"/>
            </a:avLst>
          </a:prstGeom>
          <a:solidFill>
            <a:srgbClr val="3D3D42"/>
          </a:solidFill>
          <a:ln w="7620">
            <a:solidFill>
              <a:srgbClr val="56565B"/>
            </a:solidFill>
            <a:prstDash val="solid"/>
          </a:ln>
        </p:spPr>
      </p:sp>
      <p:sp>
        <p:nvSpPr>
          <p:cNvPr id="7" name="Text 5"/>
          <p:cNvSpPr/>
          <p:nvPr/>
        </p:nvSpPr>
        <p:spPr>
          <a:xfrm>
            <a:off x="1143476" y="2552700"/>
            <a:ext cx="3266837" cy="255151"/>
          </a:xfrm>
          <a:prstGeom prst="rect">
            <a:avLst/>
          </a:prstGeom>
          <a:noFill/>
          <a:ln/>
        </p:spPr>
        <p:txBody>
          <a:bodyPr wrap="none" lIns="0" tIns="0" rIns="0" bIns="0" rtlCol="0" anchor="t"/>
          <a:lstStyle/>
          <a:p>
            <a:pPr algn="l" indent="0" marL="0">
              <a:lnSpc>
                <a:spcPts val="2000"/>
              </a:lnSpc>
              <a:buNone/>
            </a:pPr>
            <a:r>
              <a:rPr lang="en-US" sz="1600" dirty="0">
                <a:solidFill>
                  <a:srgbClr val="E5E0DF"/>
                </a:solidFill>
                <a:latin typeface="Poppins Light" pitchFamily="34" charset="0"/>
                <a:ea typeface="Poppins Light" pitchFamily="34" charset="-122"/>
                <a:cs typeface="Poppins Light" pitchFamily="34" charset="-120"/>
              </a:rPr>
              <a:t>Frontend Design &amp; Development</a:t>
            </a:r>
            <a:endParaRPr lang="en-US" sz="1600" dirty="0"/>
          </a:p>
        </p:txBody>
      </p:sp>
      <p:sp>
        <p:nvSpPr>
          <p:cNvPr id="8" name="Text 6"/>
          <p:cNvSpPr/>
          <p:nvPr/>
        </p:nvSpPr>
        <p:spPr>
          <a:xfrm>
            <a:off x="1143476" y="2905839"/>
            <a:ext cx="12915186" cy="261342"/>
          </a:xfrm>
          <a:prstGeom prst="rect">
            <a:avLst/>
          </a:prstGeom>
          <a:noFill/>
          <a:ln/>
        </p:spPr>
        <p:txBody>
          <a:bodyPr wrap="none" lIns="0" tIns="0" rIns="0" bIns="0" rtlCol="0" anchor="t"/>
          <a:lstStyle/>
          <a:p>
            <a:pPr algn="l" indent="0" marL="0">
              <a:lnSpc>
                <a:spcPts val="2050"/>
              </a:lnSpc>
              <a:buNone/>
            </a:pPr>
            <a:r>
              <a:rPr lang="en-US" sz="1250" dirty="0">
                <a:solidFill>
                  <a:srgbClr val="E5E0DF"/>
                </a:solidFill>
                <a:latin typeface="Roboto Light" pitchFamily="34" charset="0"/>
                <a:ea typeface="Roboto Light" pitchFamily="34" charset="-122"/>
                <a:cs typeface="Roboto Light" pitchFamily="34" charset="-120"/>
              </a:rPr>
              <a:t>Design and implement the React-based user interface, focusing on intuitive UX/UI elements that enhance user interaction and visual appeal.</a:t>
            </a:r>
            <a:endParaRPr lang="en-US" sz="1250" dirty="0"/>
          </a:p>
        </p:txBody>
      </p:sp>
      <p:sp>
        <p:nvSpPr>
          <p:cNvPr id="9" name="Shape 7"/>
          <p:cNvSpPr/>
          <p:nvPr/>
        </p:nvSpPr>
        <p:spPr>
          <a:xfrm>
            <a:off x="1061799" y="3491984"/>
            <a:ext cx="163354" cy="980123"/>
          </a:xfrm>
          <a:prstGeom prst="roundRect">
            <a:avLst>
              <a:gd name="adj" fmla="val 42000"/>
            </a:avLst>
          </a:prstGeom>
          <a:solidFill>
            <a:srgbClr val="3D3D42"/>
          </a:solidFill>
          <a:ln w="7620">
            <a:solidFill>
              <a:srgbClr val="56565B"/>
            </a:solidFill>
            <a:prstDash val="solid"/>
          </a:ln>
        </p:spPr>
      </p:sp>
      <p:sp>
        <p:nvSpPr>
          <p:cNvPr id="10" name="Text 8"/>
          <p:cNvSpPr/>
          <p:nvPr/>
        </p:nvSpPr>
        <p:spPr>
          <a:xfrm>
            <a:off x="1388507" y="3655338"/>
            <a:ext cx="2158722" cy="255151"/>
          </a:xfrm>
          <a:prstGeom prst="rect">
            <a:avLst/>
          </a:prstGeom>
          <a:noFill/>
          <a:ln/>
        </p:spPr>
        <p:txBody>
          <a:bodyPr wrap="none" lIns="0" tIns="0" rIns="0" bIns="0" rtlCol="0" anchor="t"/>
          <a:lstStyle/>
          <a:p>
            <a:pPr algn="l" indent="0" marL="0">
              <a:lnSpc>
                <a:spcPts val="2000"/>
              </a:lnSpc>
              <a:buNone/>
            </a:pPr>
            <a:r>
              <a:rPr lang="en-US" sz="1600" dirty="0">
                <a:solidFill>
                  <a:srgbClr val="E5E0DF"/>
                </a:solidFill>
                <a:latin typeface="Poppins Light" pitchFamily="34" charset="0"/>
                <a:ea typeface="Poppins Light" pitchFamily="34" charset="-122"/>
                <a:cs typeface="Poppins Light" pitchFamily="34" charset="-120"/>
              </a:rPr>
              <a:t>Backend API Creation</a:t>
            </a:r>
            <a:endParaRPr lang="en-US" sz="1600" dirty="0"/>
          </a:p>
        </p:txBody>
      </p:sp>
      <p:sp>
        <p:nvSpPr>
          <p:cNvPr id="11" name="Text 9"/>
          <p:cNvSpPr/>
          <p:nvPr/>
        </p:nvSpPr>
        <p:spPr>
          <a:xfrm>
            <a:off x="1388507" y="4008477"/>
            <a:ext cx="12670155" cy="268962"/>
          </a:xfrm>
          <a:prstGeom prst="rect">
            <a:avLst/>
          </a:prstGeom>
          <a:noFill/>
          <a:ln/>
        </p:spPr>
        <p:txBody>
          <a:bodyPr wrap="none" lIns="0" tIns="0" rIns="0" bIns="0" rtlCol="0" anchor="t"/>
          <a:lstStyle/>
          <a:p>
            <a:pPr algn="l" indent="0" marL="0">
              <a:lnSpc>
                <a:spcPts val="2050"/>
              </a:lnSpc>
              <a:buNone/>
            </a:pPr>
            <a:r>
              <a:rPr lang="en-US" sz="1250" dirty="0">
                <a:solidFill>
                  <a:srgbClr val="E5E0DF"/>
                </a:solidFill>
                <a:latin typeface="Roboto Light" pitchFamily="34" charset="0"/>
                <a:ea typeface="Roboto Light" pitchFamily="34" charset="-122"/>
                <a:cs typeface="Roboto Light" pitchFamily="34" charset="-120"/>
              </a:rPr>
              <a:t>Develop the FastAPI backend, implementing core face recognition logic using Python's </a:t>
            </a:r>
            <a:pPr algn="l" indent="0" marL="0">
              <a:lnSpc>
                <a:spcPts val="2050"/>
              </a:lnSpc>
              <a:buNone/>
            </a:pPr>
            <a:r>
              <a:rPr lang="en-US" sz="1250" dirty="0">
                <a:solidFill>
                  <a:srgbClr val="E5E0DF"/>
                </a:solidFill>
                <a:highlight>
                  <a:srgbClr val="121212"/>
                </a:highlight>
                <a:latin typeface="Consolas" pitchFamily="34" charset="0"/>
                <a:ea typeface="Consolas" pitchFamily="34" charset="-122"/>
                <a:cs typeface="Consolas" pitchFamily="34" charset="-120"/>
              </a:rPr>
              <a:t>face_recognition</a:t>
            </a:r>
            <a:pPr algn="l" indent="0" marL="0">
              <a:lnSpc>
                <a:spcPts val="2050"/>
              </a:lnSpc>
              <a:buNone/>
            </a:pPr>
            <a:r>
              <a:rPr lang="en-US" sz="1250" dirty="0">
                <a:solidFill>
                  <a:srgbClr val="E5E0DF"/>
                </a:solidFill>
                <a:latin typeface="Roboto Light" pitchFamily="34" charset="0"/>
                <a:ea typeface="Roboto Light" pitchFamily="34" charset="-122"/>
                <a:cs typeface="Roboto Light" pitchFamily="34" charset="-120"/>
              </a:rPr>
              <a:t> library for image loading, comparison, and output generation.</a:t>
            </a:r>
            <a:endParaRPr lang="en-US" sz="1250" dirty="0"/>
          </a:p>
        </p:txBody>
      </p:sp>
      <p:sp>
        <p:nvSpPr>
          <p:cNvPr id="12" name="Shape 10"/>
          <p:cNvSpPr/>
          <p:nvPr/>
        </p:nvSpPr>
        <p:spPr>
          <a:xfrm>
            <a:off x="1306830" y="4594622"/>
            <a:ext cx="163354" cy="980123"/>
          </a:xfrm>
          <a:prstGeom prst="roundRect">
            <a:avLst>
              <a:gd name="adj" fmla="val 42000"/>
            </a:avLst>
          </a:prstGeom>
          <a:solidFill>
            <a:srgbClr val="3D3D42"/>
          </a:solidFill>
          <a:ln w="7620">
            <a:solidFill>
              <a:srgbClr val="56565B"/>
            </a:solidFill>
            <a:prstDash val="solid"/>
          </a:ln>
        </p:spPr>
      </p:sp>
      <p:sp>
        <p:nvSpPr>
          <p:cNvPr id="13" name="Text 11"/>
          <p:cNvSpPr/>
          <p:nvPr/>
        </p:nvSpPr>
        <p:spPr>
          <a:xfrm>
            <a:off x="1633538" y="4757976"/>
            <a:ext cx="2516267" cy="255151"/>
          </a:xfrm>
          <a:prstGeom prst="rect">
            <a:avLst/>
          </a:prstGeom>
          <a:noFill/>
          <a:ln/>
        </p:spPr>
        <p:txBody>
          <a:bodyPr wrap="none" lIns="0" tIns="0" rIns="0" bIns="0" rtlCol="0" anchor="t"/>
          <a:lstStyle/>
          <a:p>
            <a:pPr algn="l" indent="0" marL="0">
              <a:lnSpc>
                <a:spcPts val="2000"/>
              </a:lnSpc>
              <a:buNone/>
            </a:pPr>
            <a:r>
              <a:rPr lang="en-US" sz="1600" dirty="0">
                <a:solidFill>
                  <a:srgbClr val="E5E0DF"/>
                </a:solidFill>
                <a:latin typeface="Poppins Light" pitchFamily="34" charset="0"/>
                <a:ea typeface="Poppins Light" pitchFamily="34" charset="-122"/>
                <a:cs typeface="Poppins Light" pitchFamily="34" charset="-120"/>
              </a:rPr>
              <a:t>Integration &amp; Refinement</a:t>
            </a:r>
            <a:endParaRPr lang="en-US" sz="1600" dirty="0"/>
          </a:p>
        </p:txBody>
      </p:sp>
      <p:sp>
        <p:nvSpPr>
          <p:cNvPr id="14" name="Text 12"/>
          <p:cNvSpPr/>
          <p:nvPr/>
        </p:nvSpPr>
        <p:spPr>
          <a:xfrm>
            <a:off x="1633538" y="5111115"/>
            <a:ext cx="12425124" cy="261342"/>
          </a:xfrm>
          <a:prstGeom prst="rect">
            <a:avLst/>
          </a:prstGeom>
          <a:noFill/>
          <a:ln/>
        </p:spPr>
        <p:txBody>
          <a:bodyPr wrap="none" lIns="0" tIns="0" rIns="0" bIns="0" rtlCol="0" anchor="t"/>
          <a:lstStyle/>
          <a:p>
            <a:pPr algn="l" indent="0" marL="0">
              <a:lnSpc>
                <a:spcPts val="2050"/>
              </a:lnSpc>
              <a:buNone/>
            </a:pPr>
            <a:r>
              <a:rPr lang="en-US" sz="1250" dirty="0">
                <a:solidFill>
                  <a:srgbClr val="E5E0DF"/>
                </a:solidFill>
                <a:latin typeface="Roboto Light" pitchFamily="34" charset="0"/>
                <a:ea typeface="Roboto Light" pitchFamily="34" charset="-122"/>
                <a:cs typeface="Roboto Light" pitchFamily="34" charset="-120"/>
              </a:rPr>
              <a:t>Connect the frontend and backend components, then refine the application for optimal performance, responsiveness, and user-friendliness.</a:t>
            </a:r>
            <a:endParaRPr lang="en-US" sz="1250" dirty="0"/>
          </a:p>
        </p:txBody>
      </p:sp>
      <p:sp>
        <p:nvSpPr>
          <p:cNvPr id="15" name="Shape 13"/>
          <p:cNvSpPr/>
          <p:nvPr/>
        </p:nvSpPr>
        <p:spPr>
          <a:xfrm>
            <a:off x="1061799" y="5697260"/>
            <a:ext cx="163354" cy="980123"/>
          </a:xfrm>
          <a:prstGeom prst="roundRect">
            <a:avLst>
              <a:gd name="adj" fmla="val 42000"/>
            </a:avLst>
          </a:prstGeom>
          <a:solidFill>
            <a:srgbClr val="3D3D42"/>
          </a:solidFill>
          <a:ln w="7620">
            <a:solidFill>
              <a:srgbClr val="56565B"/>
            </a:solidFill>
            <a:prstDash val="solid"/>
          </a:ln>
        </p:spPr>
      </p:sp>
      <p:sp>
        <p:nvSpPr>
          <p:cNvPr id="16" name="Text 14"/>
          <p:cNvSpPr/>
          <p:nvPr/>
        </p:nvSpPr>
        <p:spPr>
          <a:xfrm>
            <a:off x="1388507" y="5860613"/>
            <a:ext cx="2217063" cy="255151"/>
          </a:xfrm>
          <a:prstGeom prst="rect">
            <a:avLst/>
          </a:prstGeom>
          <a:noFill/>
          <a:ln/>
        </p:spPr>
        <p:txBody>
          <a:bodyPr wrap="none" lIns="0" tIns="0" rIns="0" bIns="0" rtlCol="0" anchor="t"/>
          <a:lstStyle/>
          <a:p>
            <a:pPr algn="l" indent="0" marL="0">
              <a:lnSpc>
                <a:spcPts val="2000"/>
              </a:lnSpc>
              <a:buNone/>
            </a:pPr>
            <a:r>
              <a:rPr lang="en-US" sz="1600" dirty="0">
                <a:solidFill>
                  <a:srgbClr val="E5E0DF"/>
                </a:solidFill>
                <a:latin typeface="Poppins Light" pitchFamily="34" charset="0"/>
                <a:ea typeface="Poppins Light" pitchFamily="34" charset="-122"/>
                <a:cs typeface="Poppins Light" pitchFamily="34" charset="-120"/>
              </a:rPr>
              <a:t>Testing &amp; Deployment</a:t>
            </a:r>
            <a:endParaRPr lang="en-US" sz="1600" dirty="0"/>
          </a:p>
        </p:txBody>
      </p:sp>
      <p:sp>
        <p:nvSpPr>
          <p:cNvPr id="17" name="Text 15"/>
          <p:cNvSpPr/>
          <p:nvPr/>
        </p:nvSpPr>
        <p:spPr>
          <a:xfrm>
            <a:off x="1388507" y="6213753"/>
            <a:ext cx="12670155" cy="261342"/>
          </a:xfrm>
          <a:prstGeom prst="rect">
            <a:avLst/>
          </a:prstGeom>
          <a:noFill/>
          <a:ln/>
        </p:spPr>
        <p:txBody>
          <a:bodyPr wrap="none" lIns="0" tIns="0" rIns="0" bIns="0" rtlCol="0" anchor="t"/>
          <a:lstStyle/>
          <a:p>
            <a:pPr algn="l" indent="0" marL="0">
              <a:lnSpc>
                <a:spcPts val="2050"/>
              </a:lnSpc>
              <a:buNone/>
            </a:pPr>
            <a:r>
              <a:rPr lang="en-US" sz="1250" dirty="0">
                <a:solidFill>
                  <a:srgbClr val="E5E0DF"/>
                </a:solidFill>
                <a:latin typeface="Roboto Light" pitchFamily="34" charset="0"/>
                <a:ea typeface="Roboto Light" pitchFamily="34" charset="-122"/>
                <a:cs typeface="Roboto Light" pitchFamily="34" charset="-120"/>
              </a:rPr>
              <a:t>Thoroughly test the application across various browsers and deploy it to the Vercel hosting platform, ensuring broad accessibility.</a:t>
            </a:r>
            <a:endParaRPr lang="en-US" sz="1250" dirty="0"/>
          </a:p>
        </p:txBody>
      </p:sp>
      <p:sp>
        <p:nvSpPr>
          <p:cNvPr id="18" name="Shape 16"/>
          <p:cNvSpPr/>
          <p:nvPr/>
        </p:nvSpPr>
        <p:spPr>
          <a:xfrm>
            <a:off x="816769" y="6799898"/>
            <a:ext cx="163354" cy="980123"/>
          </a:xfrm>
          <a:prstGeom prst="roundRect">
            <a:avLst>
              <a:gd name="adj" fmla="val 42000"/>
            </a:avLst>
          </a:prstGeom>
          <a:solidFill>
            <a:srgbClr val="3D3D42"/>
          </a:solidFill>
          <a:ln w="7620">
            <a:solidFill>
              <a:srgbClr val="56565B"/>
            </a:solidFill>
            <a:prstDash val="solid"/>
          </a:ln>
        </p:spPr>
      </p:sp>
      <p:sp>
        <p:nvSpPr>
          <p:cNvPr id="19" name="Text 17"/>
          <p:cNvSpPr/>
          <p:nvPr/>
        </p:nvSpPr>
        <p:spPr>
          <a:xfrm>
            <a:off x="1143476" y="6963251"/>
            <a:ext cx="2261592" cy="255151"/>
          </a:xfrm>
          <a:prstGeom prst="rect">
            <a:avLst/>
          </a:prstGeom>
          <a:noFill/>
          <a:ln/>
        </p:spPr>
        <p:txBody>
          <a:bodyPr wrap="none" lIns="0" tIns="0" rIns="0" bIns="0" rtlCol="0" anchor="t"/>
          <a:lstStyle/>
          <a:p>
            <a:pPr algn="l" indent="0" marL="0">
              <a:lnSpc>
                <a:spcPts val="2000"/>
              </a:lnSpc>
              <a:buNone/>
            </a:pPr>
            <a:r>
              <a:rPr lang="en-US" sz="1600" dirty="0">
                <a:solidFill>
                  <a:srgbClr val="E5E0DF"/>
                </a:solidFill>
                <a:latin typeface="Poppins Light" pitchFamily="34" charset="0"/>
                <a:ea typeface="Poppins Light" pitchFamily="34" charset="-122"/>
                <a:cs typeface="Poppins Light" pitchFamily="34" charset="-120"/>
              </a:rPr>
              <a:t>Ongoing Maintenance</a:t>
            </a:r>
            <a:endParaRPr lang="en-US" sz="1600" dirty="0"/>
          </a:p>
        </p:txBody>
      </p:sp>
      <p:sp>
        <p:nvSpPr>
          <p:cNvPr id="20" name="Text 18"/>
          <p:cNvSpPr/>
          <p:nvPr/>
        </p:nvSpPr>
        <p:spPr>
          <a:xfrm>
            <a:off x="1143476" y="7316391"/>
            <a:ext cx="12915186" cy="261342"/>
          </a:xfrm>
          <a:prstGeom prst="rect">
            <a:avLst/>
          </a:prstGeom>
          <a:noFill/>
          <a:ln/>
        </p:spPr>
        <p:txBody>
          <a:bodyPr wrap="none" lIns="0" tIns="0" rIns="0" bIns="0" rtlCol="0" anchor="t"/>
          <a:lstStyle/>
          <a:p>
            <a:pPr algn="l" indent="0" marL="0">
              <a:lnSpc>
                <a:spcPts val="2050"/>
              </a:lnSpc>
              <a:buNone/>
            </a:pPr>
            <a:r>
              <a:rPr lang="en-US" sz="1250" dirty="0">
                <a:solidFill>
                  <a:srgbClr val="E5E0DF"/>
                </a:solidFill>
                <a:latin typeface="Roboto Light" pitchFamily="34" charset="0"/>
                <a:ea typeface="Roboto Light" pitchFamily="34" charset="-122"/>
                <a:cs typeface="Roboto Light" pitchFamily="34" charset="-120"/>
              </a:rPr>
              <a:t>Continuously monitor performance, gather user feedback, and implement necessary updates to ensure long-term stability and user satisfaction.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109204"/>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F2F2F3"/>
                </a:solidFill>
                <a:latin typeface="Poppins Light" pitchFamily="34" charset="0"/>
                <a:ea typeface="Poppins Light" pitchFamily="34" charset="-122"/>
                <a:cs typeface="Poppins Light" pitchFamily="34" charset="-120"/>
              </a:rPr>
              <a:t>Expected Outcomes: Transforming Image Search</a:t>
            </a:r>
            <a:endParaRPr lang="en-US" sz="4450" dirty="0"/>
          </a:p>
        </p:txBody>
      </p:sp>
      <p:sp>
        <p:nvSpPr>
          <p:cNvPr id="4" name="Text 1"/>
          <p:cNvSpPr/>
          <p:nvPr/>
        </p:nvSpPr>
        <p:spPr>
          <a:xfrm>
            <a:off x="793790" y="5866924"/>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Light" pitchFamily="34" charset="0"/>
                <a:ea typeface="Roboto Light" pitchFamily="34" charset="-122"/>
                <a:cs typeface="Roboto Light" pitchFamily="34" charset="-120"/>
              </a:rPr>
              <a:t>Upon completion, "Find Me" will deliver a highly efficient and accurate facial recognition web application. It will significantly reduce the time and effort required to locate individuals within large image datasets, enhancing productivity for both personal and professional use cases.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80000"/>
            </a:srgbClr>
          </a:solidFill>
          <a:ln/>
        </p:spPr>
      </p:sp>
      <p:sp>
        <p:nvSpPr>
          <p:cNvPr id="4" name="Text 1"/>
          <p:cNvSpPr/>
          <p:nvPr/>
        </p:nvSpPr>
        <p:spPr>
          <a:xfrm>
            <a:off x="793790" y="376035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2F2F3"/>
                </a:solidFill>
                <a:latin typeface="Poppins Light" pitchFamily="34" charset="0"/>
                <a:ea typeface="Poppins Light" pitchFamily="34" charset="-122"/>
                <a:cs typeface="Poppins Light" pitchFamily="34" charset="-120"/>
              </a:rPr>
              <a:t>Thank You</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2025-07-21T13:08:54Z</dcterms:created>
  <dcterms:modified xsi:type="dcterms:W3CDTF">2025-07-21T13:08:54Z</dcterms:modified>
</cp:coreProperties>
</file>